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72E229-9FB2-4509-90F3-5E99C5BBD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2B92C09-BA37-4B16-A68D-A6DA71920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610AD5-5902-430B-B28E-F3E6F0973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72A4F-8270-47F8-A0AB-2A9C2590285F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BA9C6F-5B45-46AC-B2B2-F34EF100B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B6A8BA-860F-4A81-A808-9E6C5445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E5C74-9BB6-4D9C-B96D-1D7A9A81FD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552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328E57-7238-48F9-9124-81054B57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382FE4-DDF4-474B-B87E-ECB0FB8A1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D90DB5-F925-448A-81D1-1DD77BF7E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72A4F-8270-47F8-A0AB-2A9C2590285F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94B2CB-22BC-499E-8B36-6D33DA28C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54B9C7-5AFA-4825-85FE-D347901D5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E5C74-9BB6-4D9C-B96D-1D7A9A81FD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796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C26EA1-0E93-40A3-914A-65E0DE7C9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813CA2-9B32-4E76-8FCA-8D158AE91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0A3661-D8D1-4116-A5BD-4337F65BF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72A4F-8270-47F8-A0AB-2A9C2590285F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89ABFA-A828-4FBA-A2F5-62A50C420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144CD1-9CC4-4515-A30D-CCD65A160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E5C74-9BB6-4D9C-B96D-1D7A9A81FD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271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BE6B10-2B04-40B6-BC72-3E432E0DA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418EF8-8A24-498D-82A4-42795AB5D2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EC7F415-05FA-4C92-87C2-E0F5CD15F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2304DC-5357-47E6-8ABE-F7ABC2080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72A4F-8270-47F8-A0AB-2A9C2590285F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9AFAB1-D52D-457F-A220-FE7ADFED1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41A425-C033-4DDC-A56C-8224EBE33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E5C74-9BB6-4D9C-B96D-1D7A9A81FD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198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05ACA-E552-4642-A6A9-D3BBCA243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B46C97-B733-4FF0-8159-76AD26562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0D67C7-047B-4981-B2E7-49210B85C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2615AC6-362B-4CD9-AC9F-7664D74CF4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3984330-A1AD-4261-B3DD-D6ED490EB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3A33F56-5D4C-44D3-AFEC-87DD7D9DF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72A4F-8270-47F8-A0AB-2A9C2590285F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7A6E333-BC3A-4613-9DA1-99D59FACA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24F5615-A5AF-49F3-A927-1CF83F3EE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E5C74-9BB6-4D9C-B96D-1D7A9A81FD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764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DFE9E3-2DAB-488A-891F-1CEEC4A11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BFF670C-1453-416B-BCA5-B0A0E5E61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72A4F-8270-47F8-A0AB-2A9C2590285F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2174B12-9A29-400F-994A-5165F4328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2288545-DF6F-46D8-B82C-E9C61A6D7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E5C74-9BB6-4D9C-B96D-1D7A9A81FD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4427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B629B1A-A2D4-4B0E-AA76-330FE4A7A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72A4F-8270-47F8-A0AB-2A9C2590285F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13DB648-F2AE-4868-8D51-18E98F137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FC77EE-240D-475E-8713-94CEE36C6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E5C74-9BB6-4D9C-B96D-1D7A9A81FD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179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673591-2B5A-4E8A-B16B-A3718FAC5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841C87-B578-4305-83A1-38450F438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29B287-3526-4B11-BD70-31400852B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0E9E67-2D07-49E9-9926-24174B53F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72A4F-8270-47F8-A0AB-2A9C2590285F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28330A-293F-4D1B-8A18-7A3E22B28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B12503-C05C-4899-A3CD-12C5A40E1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E5C74-9BB6-4D9C-B96D-1D7A9A81FD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7862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0C200-2FA5-40E3-A96B-4ECB83829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88EB731-EAC2-48DA-99B2-4B7B058CA1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1A57D0-9352-44C2-A04B-A50D342F0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A7A2CC-BA8F-4614-8311-E21279266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72A4F-8270-47F8-A0AB-2A9C2590285F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913BA9-395D-40DC-9F83-B50FD5AA3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F45837-74DE-4627-A3D2-21609A3AA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E5C74-9BB6-4D9C-B96D-1D7A9A81FD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152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650FDF-1802-442B-B707-2DD242063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43B1E18-13A0-49DC-BBBE-57E472582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837495-427E-47F5-902E-9584A5EE2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72A4F-8270-47F8-A0AB-2A9C2590285F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30218A-7A62-4065-9658-59E1E419D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79476F-42D5-4762-AFE0-30F4416D1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E5C74-9BB6-4D9C-B96D-1D7A9A81FD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71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9BAF80B-FBBD-4114-9D9B-136E531279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C58FF2B-B6F6-4F4C-9069-5122033AA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EE4012-4204-4D37-B1B8-4B314060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72A4F-8270-47F8-A0AB-2A9C2590285F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7797DD-0EDF-426D-B242-FFA4925D2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AE1451-DA2C-4195-9B95-19E19E96B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E5C74-9BB6-4D9C-B96D-1D7A9A81FD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46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F03FDA-6A8D-4974-B507-D2DBD9023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BEB229-2A60-4895-BAE6-F993E694B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8A7237-510B-4427-B431-E4D6DB9710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72A4F-8270-47F8-A0AB-2A9C2590285F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06E51F-6AAF-41DF-AB96-5A5811975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E5C1A4-7089-4F97-9E94-3DF74AFD88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E5C74-9BB6-4D9C-B96D-1D7A9A81FD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792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F30FE4-9465-445B-9CD6-510C669319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5701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 поиска минимального описанного эллипсоида</a:t>
            </a:r>
          </a:p>
        </p:txBody>
      </p:sp>
    </p:spTree>
    <p:extLst>
      <p:ext uri="{BB962C8B-B14F-4D97-AF65-F5344CB8AC3E}">
        <p14:creationId xmlns:p14="http://schemas.microsoft.com/office/powerpoint/2010/main" val="291155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4E3EF1-CD01-4723-9F92-F9779CA67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312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Где встречается такая задача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A3A8E6-721A-4E28-8782-952566B19CDF}"/>
              </a:ext>
            </a:extLst>
          </p:cNvPr>
          <p:cNvSpPr txBox="1"/>
          <p:nvPr/>
        </p:nvSpPr>
        <p:spPr>
          <a:xfrm>
            <a:off x="838200" y="1690688"/>
            <a:ext cx="616412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Математическое программирование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Быстрый поиск выбросов</a:t>
            </a:r>
            <a:r>
              <a:rPr lang="en-US" sz="2400" dirty="0"/>
              <a:t> </a:t>
            </a:r>
            <a:r>
              <a:rPr lang="ru-RU" sz="2400" dirty="0"/>
              <a:t>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Быстрая масштабно-инвариантная </a:t>
            </a:r>
          </a:p>
          <a:p>
            <a:r>
              <a:rPr lang="ru-RU" sz="2400" dirty="0"/>
              <a:t>    кластеризация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Bounding volumes </a:t>
            </a:r>
            <a:r>
              <a:rPr lang="ru-RU" sz="2400" dirty="0"/>
              <a:t>в компьютерной графике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Теория динамических систем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И многое другое…</a:t>
            </a:r>
          </a:p>
        </p:txBody>
      </p:sp>
      <p:pic>
        <p:nvPicPr>
          <p:cNvPr id="1026" name="Picture 2" descr="How to Optimally Trap Points in High-Dimensional Spaces Inside Ellipsoids">
            <a:extLst>
              <a:ext uri="{FF2B5EF4-FFF2-40B4-BE49-F238E27FC236}">
                <a16:creationId xmlns:a16="http://schemas.microsoft.com/office/drawing/2014/main" id="{801CEBA5-E9AF-4A52-A82A-D757C8A06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2323" y="1898023"/>
            <a:ext cx="4871404" cy="4426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267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934952-024B-4122-A6A5-21228651C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893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Задача Сильвестра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2A78AC-9A9F-4729-97C3-BCE30BA44E59}"/>
              </a:ext>
            </a:extLst>
          </p:cNvPr>
          <p:cNvSpPr txBox="1"/>
          <p:nvPr/>
        </p:nvSpPr>
        <p:spPr>
          <a:xfrm>
            <a:off x="774405" y="1261786"/>
            <a:ext cx="551400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Найти минимальную сферу, содержащую данный набор </a:t>
            </a:r>
            <a:r>
              <a:rPr lang="ru-RU" dirty="0"/>
              <a:t>точек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CDD2DB7-333A-4A58-ACBC-6EA9F0E9F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102" y="1645566"/>
            <a:ext cx="780710" cy="2317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57B9BD-94E7-4896-B1F8-22FC920FD1E7}"/>
              </a:ext>
            </a:extLst>
          </p:cNvPr>
          <p:cNvSpPr txBox="1"/>
          <p:nvPr/>
        </p:nvSpPr>
        <p:spPr>
          <a:xfrm>
            <a:off x="766056" y="2021446"/>
            <a:ext cx="52578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/>
              <a:t>В терминах квадратичного программирования центр – </a:t>
            </a:r>
          </a:p>
          <a:p>
            <a:pPr algn="just"/>
            <a:r>
              <a:rPr lang="ru-RU" sz="1600" dirty="0"/>
              <a:t>точка х, являющаяся решением задачи</a:t>
            </a:r>
            <a:r>
              <a:rPr lang="en-US" sz="1600" dirty="0"/>
              <a:t>:</a:t>
            </a:r>
            <a:endParaRPr lang="ru-RU" sz="16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A713FB2-3537-449D-A28C-5470A0B27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355" y="2726846"/>
            <a:ext cx="3179147" cy="48570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80DBC5C-5345-40BA-8ECC-E742EAAFF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809" y="3134597"/>
            <a:ext cx="3477424" cy="133234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2E82A85-9564-4D91-AC24-575B75B4E611}"/>
              </a:ext>
            </a:extLst>
          </p:cNvPr>
          <p:cNvSpPr txBox="1"/>
          <p:nvPr/>
        </p:nvSpPr>
        <p:spPr>
          <a:xfrm>
            <a:off x="766056" y="4466943"/>
            <a:ext cx="475214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/>
              <a:t>Запишем двойственную к данной задачу:</a:t>
            </a:r>
          </a:p>
          <a:p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E547577-5D6E-47BA-BF83-8312360649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809" y="4874694"/>
            <a:ext cx="3262834" cy="16429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7F5A5CD-CF79-4E91-8DF2-C18F9C640053}"/>
                  </a:ext>
                </a:extLst>
              </p:cNvPr>
              <p:cNvSpPr txBox="1"/>
              <p:nvPr/>
            </p:nvSpPr>
            <p:spPr>
              <a:xfrm>
                <a:off x="6288410" y="1261786"/>
                <a:ext cx="5050681" cy="882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1600" dirty="0"/>
                  <a:t>Эта задача имеет оптимальный план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sz="1600" dirty="0"/>
                  <a:t>.</a:t>
                </a:r>
                <a:r>
                  <a:rPr lang="ru-RU" sz="1600" dirty="0"/>
                  <a:t> В таком случае вектор</a:t>
                </a:r>
                <a:r>
                  <a:rPr lang="en-US" sz="16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/>
                  <a:t> - </a:t>
                </a:r>
                <a:r>
                  <a:rPr lang="ru-RU" sz="1600" dirty="0"/>
                  <a:t>центр сферы, а радиус будет равен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ru-RU" sz="1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7F5A5CD-CF79-4E91-8DF2-C18F9C640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8410" y="1261786"/>
                <a:ext cx="5050681" cy="882934"/>
              </a:xfrm>
              <a:prstGeom prst="rect">
                <a:avLst/>
              </a:prstGeom>
              <a:blipFill>
                <a:blip r:embed="rId6"/>
                <a:stretch>
                  <a:fillRect l="-725" t="-2069" r="-604" b="-20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A504B5A-CE0E-40DC-B87A-6CE02AD10C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525" y="2123085"/>
            <a:ext cx="4618450" cy="461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935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874BAD-718B-4B9D-AF52-A5C658946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26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Общая задача о поиске эллипсоида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856C03-928C-4DE4-BD7E-C23A386646E7}"/>
              </a:ext>
            </a:extLst>
          </p:cNvPr>
          <p:cNvSpPr txBox="1"/>
          <p:nvPr/>
        </p:nvSpPr>
        <p:spPr>
          <a:xfrm>
            <a:off x="838200" y="1488558"/>
            <a:ext cx="402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Сформулируем экстремальную задачу: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3A8D7B-B17B-4581-89F2-5E99BE19B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48" y="1978206"/>
            <a:ext cx="3179145" cy="11337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2FE927-7859-40FB-9A3C-FF89E4F7484D}"/>
                  </a:ext>
                </a:extLst>
              </p:cNvPr>
              <p:cNvSpPr txBox="1"/>
              <p:nvPr/>
            </p:nvSpPr>
            <p:spPr>
              <a:xfrm>
                <a:off x="838200" y="3164589"/>
                <a:ext cx="4751429" cy="651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Вспомогательная задача в пространстве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2FE927-7859-40FB-9A3C-FF89E4F74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64589"/>
                <a:ext cx="4751429" cy="651269"/>
              </a:xfrm>
              <a:prstGeom prst="rect">
                <a:avLst/>
              </a:prstGeom>
              <a:blipFill>
                <a:blip r:embed="rId3"/>
                <a:stretch>
                  <a:fillRect l="-1155" t="-37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A1FD319-4DED-4833-B313-381C7E503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948" y="3778861"/>
            <a:ext cx="3192452" cy="12795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D83695-5941-4AC2-9379-4065C15B7437}"/>
                  </a:ext>
                </a:extLst>
              </p:cNvPr>
              <p:cNvSpPr txBox="1"/>
              <p:nvPr/>
            </p:nvSpPr>
            <p:spPr>
              <a:xfrm>
                <a:off x="6193466" y="1488558"/>
                <a:ext cx="538349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Оператор сжатия пространства вдоль нормированного вектора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ru-RU" dirty="0"/>
                  <a:t> с </a:t>
                </a:r>
              </a:p>
              <a:p>
                <a:r>
                  <a:rPr lang="ru-RU" dirty="0"/>
                  <a:t>коэффициентом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ru-RU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ru-RU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D83695-5941-4AC2-9379-4065C15B7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466" y="1488558"/>
                <a:ext cx="5383491" cy="1200329"/>
              </a:xfrm>
              <a:prstGeom prst="rect">
                <a:avLst/>
              </a:prstGeom>
              <a:blipFill>
                <a:blip r:embed="rId5"/>
                <a:stretch>
                  <a:fillRect l="-1019" t="-25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466F428-1C2C-4B15-B711-2C17D37FEB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3815" y="2488815"/>
            <a:ext cx="2071336" cy="4001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7CF4D3-372C-4CA2-842F-D7FD2AD58FD1}"/>
                  </a:ext>
                </a:extLst>
              </p:cNvPr>
              <p:cNvSpPr txBox="1"/>
              <p:nvPr/>
            </p:nvSpPr>
            <p:spPr>
              <a:xfrm>
                <a:off x="6193466" y="3042813"/>
                <a:ext cx="4221605" cy="12225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Это обратимый симметричный оператор</a:t>
                </a:r>
              </a:p>
              <a:p>
                <a:endParaRPr lang="en-US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d>
                        <m:d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𝛼𝜉</m:t>
                          </m:r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 dirty="0" smtClean="0">
                          <a:latin typeface="Cambria Math" panose="02040503050406030204" pitchFamily="18" charset="0"/>
                        </a:rPr>
                        <m:t>𝛾𝛼𝜉</m:t>
                      </m:r>
                      <m:r>
                        <a:rPr lang="ru-RU" i="0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d>
                        <m:dPr>
                          <m:ctrlPr>
                            <a:rPr lang="ru-RU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 dirty="0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7CF4D3-372C-4CA2-842F-D7FD2AD58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466" y="3042813"/>
                <a:ext cx="4221605" cy="1222514"/>
              </a:xfrm>
              <a:prstGeom prst="rect">
                <a:avLst/>
              </a:prstGeom>
              <a:blipFill>
                <a:blip r:embed="rId7"/>
                <a:stretch>
                  <a:fillRect l="-1299" t="-2488" r="-4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7908AA6-45E8-4A40-A689-AD659E3705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5743" y="4060085"/>
            <a:ext cx="5877132" cy="268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65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90391-1F2F-48DE-8D47-88CADC741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96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Итеративное решение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A51C55-F668-4CD2-A917-A38F5A5C5F14}"/>
                  </a:ext>
                </a:extLst>
              </p:cNvPr>
              <p:cNvSpPr txBox="1"/>
              <p:nvPr/>
            </p:nvSpPr>
            <p:spPr>
              <a:xfrm>
                <a:off x="615043" y="1443719"/>
                <a:ext cx="5660267" cy="20884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Алгоритм поиска вспомогательного решения: на шаге </a:t>
                </a:r>
                <a:r>
                  <a:rPr lang="en-US" dirty="0"/>
                  <a:t>k</a:t>
                </a:r>
                <a:endParaRPr lang="ru-RU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ru-RU" dirty="0"/>
                  <a:t>Найти вектор с наибольшим модулем 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ru-RU" b="0" dirty="0"/>
                  <a:t>Построить оператор сжатия вдоль него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endParaRPr lang="en-US" b="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ru-RU" b="0" dirty="0"/>
                  <a:t>Вычислить координаты новых точек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ru-RU" dirty="0"/>
                  <a:t>Сохранить текущий оператор в произведении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A51C55-F668-4CD2-A917-A38F5A5C5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43" y="1443719"/>
                <a:ext cx="5660267" cy="2088457"/>
              </a:xfrm>
              <a:prstGeom prst="rect">
                <a:avLst/>
              </a:prstGeom>
              <a:blipFill>
                <a:blip r:embed="rId2"/>
                <a:stretch>
                  <a:fillRect l="-970" t="-1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DC6CB3-D47B-4A61-A8C5-FB53531CB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785" y="3429000"/>
            <a:ext cx="4298047" cy="62592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6F92A92-2DA7-41C5-B6DE-63EFC8299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1899" y="4126288"/>
            <a:ext cx="2309818" cy="23098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BB58C0-EF3F-4138-BF26-D531A3350DB0}"/>
              </a:ext>
            </a:extLst>
          </p:cNvPr>
          <p:cNvSpPr txBox="1"/>
          <p:nvPr/>
        </p:nvSpPr>
        <p:spPr>
          <a:xfrm>
            <a:off x="6605295" y="1443719"/>
            <a:ext cx="44883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Построение сечения – решения в исходном</a:t>
            </a:r>
          </a:p>
          <a:p>
            <a:r>
              <a:rPr lang="ru-RU" dirty="0"/>
              <a:t>пространстве: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1D27BEA-17D3-4442-90AD-6A811DE0EB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967" y="2154688"/>
            <a:ext cx="1979229" cy="110649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61378EB-8D3A-4382-9606-B8D4675D3C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7553" y="3813323"/>
            <a:ext cx="5508173" cy="62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2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D4A1BE-F8BE-4F6F-8F99-18D10A527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7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Время работы алгоритма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FA110A-4141-4F61-8308-E96401E32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88" y="1541152"/>
            <a:ext cx="5737252" cy="440776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B65D68C-574C-4E68-BA61-3AA6E58FC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41152"/>
            <a:ext cx="6018878" cy="440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13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69FF65-7560-4B00-85E5-66FF9235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576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Результаты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1659CF-AFCF-4B91-A3C0-FA1933660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21" y="1295500"/>
            <a:ext cx="4863511" cy="486351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BC24346-4B96-4C8C-93D2-B00A96BE87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432" y="1295500"/>
            <a:ext cx="6484680" cy="486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603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173</Words>
  <Application>Microsoft Office PowerPoint</Application>
  <PresentationFormat>Широкоэкранный</PresentationFormat>
  <Paragraphs>40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Тема Office</vt:lpstr>
      <vt:lpstr>Задача поиска минимального описанного эллипсоида</vt:lpstr>
      <vt:lpstr>Где встречается такая задача</vt:lpstr>
      <vt:lpstr>Задача Сильвестра</vt:lpstr>
      <vt:lpstr>Общая задача о поиске эллипсоида</vt:lpstr>
      <vt:lpstr>Итеративное решение</vt:lpstr>
      <vt:lpstr>Время работы алгоритма</vt:lpstr>
      <vt:lpstr>Результаты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Владимир</dc:creator>
  <cp:lastModifiedBy>Владимир</cp:lastModifiedBy>
  <cp:revision>25</cp:revision>
  <dcterms:created xsi:type="dcterms:W3CDTF">2025-04-09T18:04:09Z</dcterms:created>
  <dcterms:modified xsi:type="dcterms:W3CDTF">2025-04-10T13:47:33Z</dcterms:modified>
</cp:coreProperties>
</file>